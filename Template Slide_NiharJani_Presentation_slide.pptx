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1"/>
  </p:sldMasterIdLst>
  <p:notesMasterIdLst>
    <p:notesMasterId r:id="rId4"/>
  </p:notesMasterIdLst>
  <p:handoutMasterIdLst>
    <p:handoutMasterId r:id="rId5"/>
  </p:handoutMasterIdLst>
  <p:sldIdLst>
    <p:sldId id="362" r:id="rId2"/>
    <p:sldId id="363" r:id="rId3"/>
  </p:sldIdLst>
  <p:sldSz cx="12192000" cy="6858000"/>
  <p:notesSz cx="6950075" cy="9236075"/>
  <p:custShowLst>
    <p:custShow name="Format Guide Workshop" id="0">
      <p:sldLst/>
    </p:custShow>
  </p:custShowLst>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29" autoAdjust="0"/>
    <p:restoredTop sz="96327" autoAdjust="0"/>
  </p:normalViewPr>
  <p:slideViewPr>
    <p:cSldViewPr snapToGrid="0">
      <p:cViewPr varScale="1">
        <p:scale>
          <a:sx n="82" d="100"/>
          <a:sy n="82" d="100"/>
        </p:scale>
        <p:origin x="605" y="5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6/5/2023</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6/5/2023</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266130848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7.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9.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2020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BCG_Grid_16x9.pptx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2020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BCG_Grid_16x9.pptx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2020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82.xml"/><Relationship Id="rId5" Type="http://schemas.openxmlformats.org/officeDocument/2006/relationships/image" Target="../media/image10.emf"/><Relationship Id="rId4" Type="http://schemas.openxmlformats.org/officeDocument/2006/relationships/oleObject" Target="../embeddings/oleObject19.bin"/></Relationships>
</file>

<file path=ppt/slides/_rels/slide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3.xml"/><Relationship Id="rId5" Type="http://schemas.openxmlformats.org/officeDocument/2006/relationships/image" Target="../media/image14.jpg"/><Relationship Id="rId4"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F175E5EF-88C5-8540-8908-177466FA5B24}"/>
              </a:ext>
            </a:extLst>
          </p:cNvPr>
          <p:cNvGraphicFramePr>
            <a:graphicFrameLocks noChangeAspect="1"/>
          </p:cNvGraphicFramePr>
          <p:nvPr>
            <p:custDataLst>
              <p:tags r:id="rId1"/>
            </p:custDataLst>
            <p:extLst>
              <p:ext uri="{D42A27DB-BD31-4B8C-83A1-F6EECF244321}">
                <p14:modId xmlns:p14="http://schemas.microsoft.com/office/powerpoint/2010/main" val="34527530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US" dirty="0">
                <a:solidFill>
                  <a:srgbClr val="D4DF33"/>
                </a:solidFill>
              </a:rPr>
              <a:t>Executive summary template</a:t>
            </a:r>
          </a:p>
        </p:txBody>
      </p:sp>
      <p:sp>
        <p:nvSpPr>
          <p:cNvPr id="4" name="Text Placeholder 3">
            <a:extLst>
              <a:ext uri="{FF2B5EF4-FFF2-40B4-BE49-F238E27FC236}">
                <a16:creationId xmlns:a16="http://schemas.microsoft.com/office/drawing/2014/main" id="{0E5F306D-D033-0749-8A8A-0FBDE0003FE9}"/>
              </a:ext>
            </a:extLst>
          </p:cNvPr>
          <p:cNvSpPr txBox="1">
            <a:spLocks/>
          </p:cNvSpPr>
          <p:nvPr/>
        </p:nvSpPr>
        <p:spPr>
          <a:xfrm>
            <a:off x="4999384" y="1617280"/>
            <a:ext cx="6352558" cy="4587577"/>
          </a:xfrm>
          <a:prstGeom prst="rect">
            <a:avLst/>
          </a:prstGeom>
        </p:spPr>
        <p:txBody>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marL="108000" lvl="1" indent="0">
              <a:buClr>
                <a:schemeClr val="tx2">
                  <a:lumMod val="100000"/>
                </a:schemeClr>
              </a:buClr>
              <a:buSzPct val="100000"/>
              <a:buFont typeface="Arial" panose="020B0604020202020204" pitchFamily="34" charset="0"/>
              <a:buNone/>
            </a:pPr>
            <a:r>
              <a:rPr lang="en-US" sz="1600" dirty="0">
                <a:solidFill>
                  <a:schemeClr val="tx1">
                    <a:lumMod val="100000"/>
                  </a:schemeClr>
                </a:solidFill>
                <a:latin typeface="Trebuchet MS" panose="020B0703020202090204" pitchFamily="34" charset="0"/>
              </a:rPr>
              <a:t>Insight 1</a:t>
            </a:r>
          </a:p>
          <a:p>
            <a:pPr marL="324000" lvl="1" indent="-216000">
              <a:lnSpc>
                <a:spcPct val="100000"/>
              </a:lnSpc>
              <a:spcAft>
                <a:spcPts val="0"/>
              </a:spcAft>
              <a:buClr>
                <a:schemeClr val="tx2">
                  <a:lumMod val="100000"/>
                </a:schemeClr>
              </a:buClr>
              <a:buSzPct val="100000"/>
              <a:buFont typeface="Trebuchet MS" panose="020B0703020202090204" pitchFamily="34" charset="0"/>
              <a:buChar char="•"/>
            </a:pPr>
            <a:r>
              <a:rPr lang="en-US" sz="1600" b="0" i="0" dirty="0">
                <a:solidFill>
                  <a:srgbClr val="374151"/>
                </a:solidFill>
                <a:effectLst/>
                <a:latin typeface="Söhne"/>
              </a:rPr>
              <a:t>The rate of customer turnover in the SME sector has been notably elevated, with a churn rate of 9.9% observed during the period spanning from January 2016 to March 2016.</a:t>
            </a:r>
            <a:endParaRPr lang="en-US" sz="1600" dirty="0">
              <a:solidFill>
                <a:schemeClr val="tx1">
                  <a:lumMod val="100000"/>
                </a:schemeClr>
              </a:solidFill>
              <a:latin typeface="Trebuchet MS" panose="020B0703020202090204" pitchFamily="34" charset="0"/>
            </a:endParaRPr>
          </a:p>
          <a:p>
            <a:pPr marL="550800" lvl="2" indent="-216000">
              <a:buClr>
                <a:schemeClr val="tx2">
                  <a:lumMod val="100000"/>
                </a:schemeClr>
              </a:buClr>
              <a:buSzPct val="100000"/>
              <a:buFont typeface="Trebuchet MS" panose="020B0703020202090204" pitchFamily="34" charset="0"/>
              <a:buChar char="•"/>
            </a:pPr>
            <a:endParaRPr lang="en-US" sz="1600" dirty="0">
              <a:solidFill>
                <a:schemeClr val="tx1">
                  <a:lumMod val="100000"/>
                </a:schemeClr>
              </a:solidFill>
              <a:latin typeface="Trebuchet MS" panose="020B0703020202090204" pitchFamily="34" charset="0"/>
            </a:endParaRPr>
          </a:p>
          <a:p>
            <a:pPr marL="334800" lvl="2" indent="0">
              <a:buClr>
                <a:schemeClr val="tx2">
                  <a:lumMod val="100000"/>
                </a:schemeClr>
              </a:buClr>
              <a:buSzPct val="100000"/>
              <a:buNone/>
            </a:pPr>
            <a:endParaRPr lang="en-US" sz="1600" dirty="0">
              <a:solidFill>
                <a:schemeClr val="tx1">
                  <a:lumMod val="100000"/>
                </a:schemeClr>
              </a:solidFill>
              <a:latin typeface="Trebuchet MS" panose="020B0703020202090204" pitchFamily="34" charset="0"/>
            </a:endParaRPr>
          </a:p>
          <a:p>
            <a:pPr marL="108000" lvl="1" indent="0">
              <a:buClr>
                <a:schemeClr val="tx2">
                  <a:lumMod val="100000"/>
                </a:schemeClr>
              </a:buClr>
              <a:buSzPct val="100000"/>
              <a:buNone/>
            </a:pPr>
            <a:r>
              <a:rPr lang="en-US" sz="1600" dirty="0">
                <a:solidFill>
                  <a:schemeClr val="tx1">
                    <a:lumMod val="100000"/>
                  </a:schemeClr>
                </a:solidFill>
                <a:latin typeface="Trebuchet MS" panose="020B0703020202090204" pitchFamily="34" charset="0"/>
              </a:rPr>
              <a:t>Insight 2</a:t>
            </a:r>
          </a:p>
          <a:p>
            <a:pPr marL="324000" lvl="1" indent="-216000">
              <a:lnSpc>
                <a:spcPct val="100000"/>
              </a:lnSpc>
              <a:spcAft>
                <a:spcPts val="0"/>
              </a:spcAft>
              <a:buClr>
                <a:schemeClr val="tx2">
                  <a:lumMod val="100000"/>
                </a:schemeClr>
              </a:buClr>
              <a:buSzPct val="100000"/>
              <a:buFont typeface="Trebuchet MS" panose="020B0703020202090204" pitchFamily="34" charset="0"/>
              <a:buChar char="•"/>
            </a:pPr>
            <a:r>
              <a:rPr lang="en-US" sz="1600" b="0" i="0" dirty="0">
                <a:solidFill>
                  <a:srgbClr val="374151"/>
                </a:solidFill>
                <a:effectLst/>
                <a:latin typeface="Söhne"/>
              </a:rPr>
              <a:t>The effectiveness of a 20% discount strategy is contingent upon proper targeting. It is recommended to offer the discount exclusively to customers who exhibit both a high customer value and a high probability of churn.</a:t>
            </a:r>
            <a:endParaRPr lang="en-US" sz="1600" dirty="0">
              <a:solidFill>
                <a:schemeClr val="tx1">
                  <a:lumMod val="100000"/>
                </a:schemeClr>
              </a:solidFill>
              <a:latin typeface="Trebuchet MS" panose="020B0703020202090204" pitchFamily="34" charset="0"/>
            </a:endParaRPr>
          </a:p>
          <a:p>
            <a:pPr marL="334800" lvl="2" indent="0">
              <a:buClr>
                <a:schemeClr val="tx2">
                  <a:lumMod val="100000"/>
                </a:schemeClr>
              </a:buClr>
              <a:buSzPct val="100000"/>
              <a:buNone/>
            </a:pPr>
            <a:endParaRPr lang="en-US" sz="1600" dirty="0">
              <a:solidFill>
                <a:schemeClr val="tx1">
                  <a:lumMod val="100000"/>
                </a:schemeClr>
              </a:solidFill>
              <a:latin typeface="Trebuchet MS" panose="020B0703020202090204" pitchFamily="34" charset="0"/>
            </a:endParaRPr>
          </a:p>
          <a:p>
            <a:pPr marL="108000" lvl="1" indent="0">
              <a:buClr>
                <a:schemeClr val="tx2">
                  <a:lumMod val="100000"/>
                </a:schemeClr>
              </a:buClr>
              <a:buSzPct val="100000"/>
              <a:buNone/>
            </a:pPr>
            <a:r>
              <a:rPr lang="en-US" sz="1600" dirty="0">
                <a:solidFill>
                  <a:schemeClr val="tx1">
                    <a:lumMod val="100000"/>
                  </a:schemeClr>
                </a:solidFill>
                <a:latin typeface="Trebuchet MS" panose="020B0703020202090204" pitchFamily="34" charset="0"/>
              </a:rPr>
              <a:t>Insight 3</a:t>
            </a:r>
          </a:p>
          <a:p>
            <a:pPr marL="324000" lvl="1" indent="-216000">
              <a:lnSpc>
                <a:spcPct val="100000"/>
              </a:lnSpc>
              <a:spcAft>
                <a:spcPts val="0"/>
              </a:spcAft>
              <a:buClr>
                <a:schemeClr val="tx2">
                  <a:lumMod val="100000"/>
                </a:schemeClr>
              </a:buClr>
              <a:buSzPct val="100000"/>
              <a:buFont typeface="Trebuchet MS" panose="020B0703020202090204" pitchFamily="34" charset="0"/>
              <a:buChar char="•"/>
            </a:pPr>
            <a:r>
              <a:rPr lang="en-US" sz="1600" b="0" i="0" dirty="0">
                <a:solidFill>
                  <a:srgbClr val="374151"/>
                </a:solidFill>
                <a:effectLst/>
                <a:latin typeface="Söhne"/>
              </a:rPr>
              <a:t>The predictive model successfully predicts churn, but customer price sensitivity is not the primary driver. The three main drivers of churn are yearly consumption, net margin, and forecasted consumption. These factors have a significant impact on the likelihood of churn for customers.</a:t>
            </a:r>
            <a:endParaRPr lang="en-US" sz="1600" dirty="0">
              <a:solidFill>
                <a:schemeClr val="tx1">
                  <a:lumMod val="100000"/>
                </a:schemeClr>
              </a:solidFill>
              <a:latin typeface="Trebuchet MS" panose="020B0703020202090204" pitchFamily="34" charset="0"/>
            </a:endParaRPr>
          </a:p>
        </p:txBody>
      </p:sp>
    </p:spTree>
    <p:extLst>
      <p:ext uri="{BB962C8B-B14F-4D97-AF65-F5344CB8AC3E}">
        <p14:creationId xmlns:p14="http://schemas.microsoft.com/office/powerpoint/2010/main" val="36693192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692AB-80B2-904E-9228-F4F98F211AFF}"/>
              </a:ext>
            </a:extLst>
          </p:cNvPr>
          <p:cNvSpPr>
            <a:spLocks noGrp="1"/>
          </p:cNvSpPr>
          <p:nvPr>
            <p:ph type="title"/>
          </p:nvPr>
        </p:nvSpPr>
        <p:spPr/>
        <p:txBody>
          <a:bodyPr/>
          <a:lstStyle/>
          <a:p>
            <a:r>
              <a:rPr lang="en-US" dirty="0"/>
              <a:t>Visualization</a:t>
            </a:r>
          </a:p>
        </p:txBody>
      </p:sp>
      <p:pic>
        <p:nvPicPr>
          <p:cNvPr id="3" name="Picture 2">
            <a:extLst>
              <a:ext uri="{FF2B5EF4-FFF2-40B4-BE49-F238E27FC236}">
                <a16:creationId xmlns:a16="http://schemas.microsoft.com/office/drawing/2014/main" id="{DD38E33B-C719-B1E1-E709-B9E3D872D382}"/>
              </a:ext>
            </a:extLst>
          </p:cNvPr>
          <p:cNvPicPr>
            <a:picLocks noChangeAspect="1"/>
          </p:cNvPicPr>
          <p:nvPr/>
        </p:nvPicPr>
        <p:blipFill>
          <a:blip r:embed="rId2"/>
          <a:stretch>
            <a:fillRect/>
          </a:stretch>
        </p:blipFill>
        <p:spPr>
          <a:xfrm>
            <a:off x="4179086" y="166677"/>
            <a:ext cx="4208049" cy="220329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Picture 4">
            <a:extLst>
              <a:ext uri="{FF2B5EF4-FFF2-40B4-BE49-F238E27FC236}">
                <a16:creationId xmlns:a16="http://schemas.microsoft.com/office/drawing/2014/main" id="{F010E5E3-F73E-2896-6CBD-049A944CEAF0}"/>
              </a:ext>
            </a:extLst>
          </p:cNvPr>
          <p:cNvPicPr>
            <a:picLocks noChangeAspect="1"/>
          </p:cNvPicPr>
          <p:nvPr/>
        </p:nvPicPr>
        <p:blipFill>
          <a:blip r:embed="rId3"/>
          <a:stretch>
            <a:fillRect/>
          </a:stretch>
        </p:blipFill>
        <p:spPr>
          <a:xfrm>
            <a:off x="4179085" y="2832112"/>
            <a:ext cx="4308187" cy="237437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6">
            <a:extLst>
              <a:ext uri="{FF2B5EF4-FFF2-40B4-BE49-F238E27FC236}">
                <a16:creationId xmlns:a16="http://schemas.microsoft.com/office/drawing/2014/main" id="{65DDE19B-93E1-6457-9AF2-C99F8C1BBD55}"/>
              </a:ext>
            </a:extLst>
          </p:cNvPr>
          <p:cNvPicPr>
            <a:picLocks noChangeAspect="1"/>
          </p:cNvPicPr>
          <p:nvPr/>
        </p:nvPicPr>
        <p:blipFill>
          <a:blip r:embed="rId4"/>
          <a:stretch>
            <a:fillRect/>
          </a:stretch>
        </p:blipFill>
        <p:spPr>
          <a:xfrm>
            <a:off x="8695265" y="166677"/>
            <a:ext cx="2975541" cy="1860991"/>
          </a:xfrm>
          <a:prstGeom prst="rect">
            <a:avLst/>
          </a:prstGeom>
        </p:spPr>
      </p:pic>
      <p:pic>
        <p:nvPicPr>
          <p:cNvPr id="9" name="Picture 8">
            <a:extLst>
              <a:ext uri="{FF2B5EF4-FFF2-40B4-BE49-F238E27FC236}">
                <a16:creationId xmlns:a16="http://schemas.microsoft.com/office/drawing/2014/main" id="{148D4C81-6740-DCD9-9307-938664131C2D}"/>
              </a:ext>
            </a:extLst>
          </p:cNvPr>
          <p:cNvPicPr>
            <a:picLocks noChangeAspect="1"/>
          </p:cNvPicPr>
          <p:nvPr/>
        </p:nvPicPr>
        <p:blipFill>
          <a:blip r:embed="rId5"/>
          <a:stretch>
            <a:fillRect/>
          </a:stretch>
        </p:blipFill>
        <p:spPr>
          <a:xfrm>
            <a:off x="8695265" y="2239346"/>
            <a:ext cx="3291840" cy="39375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235299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TotalTime>
  <Words>133</Words>
  <Application>Microsoft Office PowerPoint</Application>
  <PresentationFormat>Widescreen</PresentationFormat>
  <Paragraphs>12</Paragraphs>
  <Slides>2</Slides>
  <Notes>1</Notes>
  <HiddenSlides>0</HiddenSlides>
  <MMClips>0</MMClips>
  <ScaleCrop>false</ScaleCrop>
  <HeadingPairs>
    <vt:vector size="10"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vt:i4>
      </vt:variant>
      <vt:variant>
        <vt:lpstr>Custom Shows</vt:lpstr>
      </vt:variant>
      <vt:variant>
        <vt:i4>1</vt:i4>
      </vt:variant>
    </vt:vector>
  </HeadingPairs>
  <TitlesOfParts>
    <vt:vector size="8" baseType="lpstr">
      <vt:lpstr>Arial</vt:lpstr>
      <vt:lpstr>Söhne</vt:lpstr>
      <vt:lpstr>Trebuchet MS</vt:lpstr>
      <vt:lpstr>BCG Grid 16:9</vt:lpstr>
      <vt:lpstr>think-cell Slide</vt:lpstr>
      <vt:lpstr>Executive summary template</vt:lpstr>
      <vt:lpstr>Visualization</vt:lpstr>
      <vt:lpstr>Format Guide Workshop</vt:lpstr>
    </vt:vector>
  </TitlesOfParts>
  <Company>The 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 Boston Consulting Group</dc:creator>
  <cp:lastModifiedBy>srushti jani</cp:lastModifiedBy>
  <cp:revision>448</cp:revision>
  <cp:lastPrinted>2016-04-06T18:59:25Z</cp:lastPrinted>
  <dcterms:created xsi:type="dcterms:W3CDTF">2016-11-04T11:46:04Z</dcterms:created>
  <dcterms:modified xsi:type="dcterms:W3CDTF">2023-06-05T15:08:24Z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ies>
</file>